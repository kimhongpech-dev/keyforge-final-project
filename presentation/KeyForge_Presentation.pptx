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key-forge-final-project.vercel.app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2344" y="2538966"/>
            <a:ext cx="12191695" cy="12700"/>
          </a:xfrm>
          <a:prstGeom prst="rect">
            <a:avLst/>
          </a:prstGeom>
          <a:solidFill>
            <a:srgbClr val="2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77240" y="759713"/>
            <a:ext cx="1005840" cy="64008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91478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400" b="1" i="0" dirty="0" err="1">
                <a:solidFill>
                  <a:srgbClr val="FFFFFF"/>
                </a:solidFill>
                <a:latin typeface="Georgia"/>
              </a:rPr>
              <a:t>KeyForge</a:t>
            </a:r>
            <a:endParaRPr sz="6400" b="1" i="0" dirty="0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1989945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i="0" dirty="0">
                <a:solidFill>
                  <a:srgbClr val="9AA3AD"/>
                </a:solidFill>
                <a:latin typeface="Segoe UI"/>
              </a:rPr>
              <a:t>Mechanical Keyboard E-Commerce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803871"/>
            <a:ext cx="10607040" cy="66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600"/>
              </a:spcBef>
            </a:pPr>
            <a:r>
              <a:rPr sz="1600" b="0" i="0" dirty="0">
                <a:solidFill>
                  <a:srgbClr val="9AA3AD"/>
                </a:solidFill>
                <a:latin typeface="Segoe UI"/>
              </a:rPr>
              <a:t>A Full-Stack Web Application — React · </a:t>
            </a:r>
            <a:r>
              <a:rPr sz="1600" b="0" i="0" dirty="0" err="1">
                <a:solidFill>
                  <a:srgbClr val="9AA3AD"/>
                </a:solidFill>
                <a:latin typeface="Segoe UI"/>
              </a:rPr>
              <a:t>FastAPI</a:t>
            </a:r>
            <a:r>
              <a:rPr sz="1600" b="0" i="0" dirty="0">
                <a:solidFill>
                  <a:srgbClr val="9AA3AD"/>
                </a:solidFill>
                <a:latin typeface="Segoe UI"/>
              </a:rPr>
              <a:t> · MongoDB</a:t>
            </a:r>
          </a:p>
          <a:p>
            <a:pPr algn="l">
              <a:spcBef>
                <a:spcPts val="600"/>
              </a:spcBef>
            </a:pPr>
            <a:r>
              <a:rPr sz="1600" b="0" i="0" dirty="0">
                <a:solidFill>
                  <a:srgbClr val="9AA3AD"/>
                </a:solidFill>
                <a:latin typeface="Segoe UI"/>
              </a:rPr>
              <a:t>Final Project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82405"/>
            <a:ext cx="10607040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400" b="1" dirty="0">
                <a:solidFill>
                  <a:srgbClr val="FFFFFF"/>
                </a:solidFill>
                <a:latin typeface="Segoe UI"/>
              </a:rPr>
              <a:t>Members 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:</a:t>
            </a:r>
            <a:r>
              <a:rPr lang="en-US" sz="14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lang="en-US" sz="1400" b="1" dirty="0">
                <a:solidFill>
                  <a:srgbClr val="00CCFF"/>
                </a:solidFill>
                <a:latin typeface="Segoe UI"/>
              </a:rPr>
              <a:t>1 K</a:t>
            </a:r>
            <a:r>
              <a:rPr sz="1400" b="1" i="0" dirty="0">
                <a:solidFill>
                  <a:srgbClr val="00CCFF"/>
                </a:solidFill>
                <a:latin typeface="Segoe UI"/>
              </a:rPr>
              <a:t>imhong Pech</a:t>
            </a:r>
            <a:endParaRPr lang="en-US" sz="1400" b="1" i="0" dirty="0">
              <a:solidFill>
                <a:srgbClr val="00CCFF"/>
              </a:solidFill>
              <a:latin typeface="Segoe UI"/>
            </a:endParaRPr>
          </a:p>
          <a:p>
            <a:pPr algn="l"/>
            <a:r>
              <a:rPr lang="en-US" sz="1400" b="1" dirty="0">
                <a:solidFill>
                  <a:srgbClr val="00CCFF"/>
                </a:solidFill>
                <a:latin typeface="Segoe UI"/>
              </a:rPr>
              <a:t>		2 </a:t>
            </a:r>
            <a:r>
              <a:rPr lang="en-US" sz="1400" b="1" i="0" dirty="0">
                <a:solidFill>
                  <a:srgbClr val="00CCFF"/>
                </a:solidFill>
                <a:latin typeface="Segoe UI"/>
              </a:rPr>
              <a:t>Sophal </a:t>
            </a:r>
            <a:r>
              <a:rPr lang="en-US" sz="1400" b="1" i="0" dirty="0" err="1">
                <a:solidFill>
                  <a:srgbClr val="00CCFF"/>
                </a:solidFill>
                <a:latin typeface="Segoe UI"/>
              </a:rPr>
              <a:t>Pheak</a:t>
            </a:r>
            <a:r>
              <a:rPr lang="en-US" sz="1400" b="1" dirty="0" err="1">
                <a:solidFill>
                  <a:srgbClr val="00CCFF"/>
                </a:solidFill>
                <a:latin typeface="Segoe UI"/>
              </a:rPr>
              <a:t>deypanhasak</a:t>
            </a:r>
            <a:endParaRPr lang="en-US" sz="1400" b="1" dirty="0">
              <a:solidFill>
                <a:srgbClr val="00CCFF"/>
              </a:solidFill>
              <a:latin typeface="Segoe UI"/>
            </a:endParaRPr>
          </a:p>
          <a:p>
            <a:pPr algn="l"/>
            <a:r>
              <a:rPr lang="en-US" sz="1400" b="1" dirty="0">
                <a:solidFill>
                  <a:srgbClr val="00CCFF"/>
                </a:solidFill>
                <a:latin typeface="Segoe UI"/>
              </a:rPr>
              <a:t>		3 Sreang </a:t>
            </a:r>
            <a:r>
              <a:rPr lang="en-US" sz="1400" b="1" dirty="0" err="1">
                <a:solidFill>
                  <a:srgbClr val="00CCFF"/>
                </a:solidFill>
                <a:latin typeface="Segoe UI"/>
              </a:rPr>
              <a:t>Limsry</a:t>
            </a:r>
            <a:endParaRPr lang="en-US" sz="1400" b="1" dirty="0">
              <a:solidFill>
                <a:srgbClr val="00CCFF"/>
              </a:solidFill>
              <a:latin typeface="Segoe UI"/>
            </a:endParaRPr>
          </a:p>
          <a:p>
            <a:pPr algn="l"/>
            <a:r>
              <a:rPr lang="en-US" sz="1400" b="1" dirty="0">
                <a:solidFill>
                  <a:srgbClr val="00CCFF"/>
                </a:solidFill>
                <a:latin typeface="Segoe UI"/>
              </a:rPr>
              <a:t>		4 Chea </a:t>
            </a:r>
            <a:r>
              <a:rPr lang="en-US" sz="1400" b="1" dirty="0" err="1">
                <a:solidFill>
                  <a:srgbClr val="00CCFF"/>
                </a:solidFill>
                <a:latin typeface="Segoe UI"/>
              </a:rPr>
              <a:t>Lymeng</a:t>
            </a:r>
            <a:endParaRPr lang="en-US" sz="1400" b="1" dirty="0">
              <a:solidFill>
                <a:srgbClr val="00CCFF"/>
              </a:solidFill>
              <a:latin typeface="Segoe UI"/>
            </a:endParaRPr>
          </a:p>
          <a:p>
            <a:pPr algn="l"/>
            <a:r>
              <a:rPr lang="en-US" sz="1400" b="1" dirty="0">
                <a:solidFill>
                  <a:srgbClr val="00CCFF"/>
                </a:solidFill>
                <a:latin typeface="Segoe UI"/>
              </a:rPr>
              <a:t>		5 Pheak </a:t>
            </a:r>
            <a:r>
              <a:rPr lang="en-US" sz="1400" b="1" dirty="0" err="1">
                <a:solidFill>
                  <a:srgbClr val="00CCFF"/>
                </a:solidFill>
                <a:latin typeface="Segoe UI"/>
              </a:rPr>
              <a:t>Solyna</a:t>
            </a:r>
            <a:endParaRPr lang="en-US" sz="1400" b="1" dirty="0">
              <a:solidFill>
                <a:srgbClr val="00CCFF"/>
              </a:solidFill>
              <a:latin typeface="Segoe UI"/>
            </a:endParaRPr>
          </a:p>
          <a:p>
            <a:pPr algn="l"/>
            <a:r>
              <a:rPr lang="en-US" sz="1400" b="1" dirty="0">
                <a:solidFill>
                  <a:srgbClr val="00CCFF"/>
                </a:solidFill>
                <a:latin typeface="Segoe UI"/>
              </a:rPr>
              <a:t>		6 </a:t>
            </a:r>
            <a:r>
              <a:rPr lang="en-US" sz="1400" b="1" dirty="0" err="1">
                <a:solidFill>
                  <a:srgbClr val="00CCFF"/>
                </a:solidFill>
                <a:latin typeface="Segoe UI"/>
              </a:rPr>
              <a:t>Kongrith</a:t>
            </a:r>
            <a:r>
              <a:rPr lang="en-US" sz="1400" b="1" dirty="0">
                <a:solidFill>
                  <a:srgbClr val="00CCFF"/>
                </a:solidFill>
                <a:latin typeface="Segoe UI"/>
              </a:rPr>
              <a:t> </a:t>
            </a:r>
            <a:r>
              <a:rPr lang="en-US" sz="1400" b="1" dirty="0" err="1">
                <a:solidFill>
                  <a:srgbClr val="00CCFF"/>
                </a:solidFill>
                <a:latin typeface="Segoe UI"/>
              </a:rPr>
              <a:t>Vireaksal</a:t>
            </a:r>
            <a:endParaRPr lang="en-US" sz="1400" b="1" dirty="0">
              <a:solidFill>
                <a:srgbClr val="00CCFF"/>
              </a:solidFill>
              <a:latin typeface="Segoe UI"/>
            </a:endParaRPr>
          </a:p>
          <a:p>
            <a:pPr algn="l"/>
            <a:endParaRPr lang="en-US" sz="1400" dirty="0">
              <a:solidFill>
                <a:srgbClr val="FFFFFF"/>
              </a:solidFill>
              <a:latin typeface="Segoe UI"/>
            </a:endParaRPr>
          </a:p>
          <a:p>
            <a:pPr algn="l"/>
            <a:endParaRPr lang="en-US" sz="1400" dirty="0">
              <a:solidFill>
                <a:srgbClr val="FFFFFF"/>
              </a:solidFill>
              <a:latin typeface="Segoe UI"/>
            </a:endParaRPr>
          </a:p>
          <a:p>
            <a:pPr algn="l"/>
            <a:endParaRPr sz="1400" b="0" i="0" dirty="0">
              <a:solidFill>
                <a:srgbClr val="FFFFFF"/>
              </a:solidFill>
              <a:latin typeface="Segoe UI"/>
            </a:endParaRPr>
          </a:p>
          <a:p>
            <a:pPr algn="l"/>
            <a:r>
              <a:rPr sz="1400" b="1" i="0" dirty="0">
                <a:solidFill>
                  <a:srgbClr val="FFFFFF"/>
                </a:solidFill>
                <a:latin typeface="Segoe UI"/>
              </a:rPr>
              <a:t>Live:  </a:t>
            </a:r>
            <a:r>
              <a:rPr sz="1400" b="0" i="0" dirty="0">
                <a:solidFill>
                  <a:srgbClr val="3D94FF"/>
                </a:solidFill>
                <a:latin typeface="Segoe UI"/>
              </a:rPr>
              <a:t>https://key-forge-final-project.vercel.app</a:t>
            </a:r>
            <a:r>
              <a:rPr sz="1400" b="1" i="0" dirty="0">
                <a:solidFill>
                  <a:srgbClr val="FFFFFF"/>
                </a:solidFill>
                <a:latin typeface="Segoe UI"/>
              </a:rPr>
              <a:t>     Repo:  </a:t>
            </a:r>
            <a:r>
              <a:rPr sz="1400" b="0" i="0" dirty="0">
                <a:solidFill>
                  <a:srgbClr val="3D94FF"/>
                </a:solidFill>
                <a:latin typeface="Segoe UI"/>
              </a:rPr>
              <a:t>github.com/</a:t>
            </a:r>
            <a:r>
              <a:rPr sz="1400" b="0" i="0" dirty="0" err="1">
                <a:solidFill>
                  <a:srgbClr val="3D94FF"/>
                </a:solidFill>
                <a:latin typeface="Segoe UI"/>
              </a:rPr>
              <a:t>kimhongpech</a:t>
            </a:r>
            <a:r>
              <a:rPr sz="1400" b="0" i="0" dirty="0">
                <a:solidFill>
                  <a:srgbClr val="3D94FF"/>
                </a:solidFill>
                <a:latin typeface="Segoe UI"/>
              </a:rPr>
              <a:t>-dev/</a:t>
            </a:r>
            <a:r>
              <a:rPr sz="1400" b="0" i="0" dirty="0" err="1">
                <a:solidFill>
                  <a:srgbClr val="3D94FF"/>
                </a:solidFill>
                <a:latin typeface="Segoe UI"/>
              </a:rPr>
              <a:t>KeyForge</a:t>
            </a:r>
            <a:r>
              <a:rPr sz="1400" b="0" i="0" dirty="0">
                <a:solidFill>
                  <a:srgbClr val="3D94FF"/>
                </a:solidFill>
                <a:latin typeface="Segoe UI"/>
              </a:rPr>
              <a:t>-Final-Project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740664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 dirty="0">
                <a:solidFill>
                  <a:srgbClr val="3D94FF"/>
                </a:solidFill>
                <a:latin typeface="Segoe UI"/>
              </a:rPr>
              <a:t>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D94FF"/>
                </a:solidFill>
                <a:latin typeface="Segoe U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66420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181D"/>
                </a:solidFill>
                <a:latin typeface="Segoe UI"/>
              </a:rPr>
              <a:t>Project Overview &amp;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659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7783"/>
                </a:solidFill>
                <a:latin typeface="Segoe UI"/>
              </a:rPr>
              <a:t>What KeyForge is, who it serves, and what it achieves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D94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16712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181D"/>
                </a:solidFill>
                <a:latin typeface="Segoe UI"/>
              </a:rPr>
              <a:t>Problem &amp; Motivation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4688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7783"/>
                </a:solidFill>
                <a:latin typeface="Segoe UI"/>
              </a:rPr>
              <a:t>Why build a full e-commerce platform from scratch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D94FF"/>
                </a:solidFill>
                <a:latin typeface="Segoe U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67004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181D"/>
                </a:solidFill>
                <a:latin typeface="Segoe UI"/>
              </a:rPr>
              <a:t>Technology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9718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7783"/>
                </a:solidFill>
                <a:latin typeface="Segoe UI"/>
              </a:rPr>
              <a:t>Frontend, backend, database, and deployment choices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2004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D94FF"/>
                </a:solidFill>
                <a:latin typeface="Segoe U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17296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181D"/>
                </a:solidFill>
                <a:latin typeface="Segoe UI"/>
              </a:rPr>
              <a:t>System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4747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7783"/>
                </a:solidFill>
                <a:latin typeface="Segoe UI"/>
              </a:rPr>
              <a:t>How the pieces talk to each other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0332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D94FF"/>
                </a:solidFill>
                <a:latin typeface="Segoe U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67588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181D"/>
                </a:solidFill>
                <a:latin typeface="Segoe UI"/>
              </a:rPr>
              <a:t>Database &amp; API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397764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7783"/>
                </a:solidFill>
                <a:latin typeface="Segoe UI"/>
              </a:rPr>
              <a:t>MongoDB data model and REST endpoints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0624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D94FF"/>
                </a:solidFill>
                <a:latin typeface="Segoe U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17880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181D"/>
                </a:solidFill>
                <a:latin typeface="Segoe UI"/>
              </a:rPr>
              <a:t>Core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4805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7783"/>
                </a:solidFill>
                <a:latin typeface="Segoe UI"/>
              </a:rPr>
              <a:t>Catalog, auth, cart &amp; checkout, orders, admin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0916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D94FF"/>
                </a:solidFill>
                <a:latin typeface="Segoe U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468172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181D"/>
                </a:solidFill>
                <a:latin typeface="Segoe UI"/>
              </a:rPr>
              <a:t>UX &amp;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98348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7783"/>
                </a:solidFill>
                <a:latin typeface="Segoe UI"/>
              </a:rPr>
              <a:t>Theming, responsiveness, accessibility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D94FF"/>
                </a:solidFill>
                <a:latin typeface="Segoe U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18464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181D"/>
                </a:solidFill>
                <a:latin typeface="Segoe UI"/>
              </a:rPr>
              <a:t>Deployment &amp; Challenges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48640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7783"/>
                </a:solidFill>
                <a:latin typeface="Segoe UI"/>
              </a:rPr>
              <a:t>GitHub, Vercel, MongoDB Atlas, problems solved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1500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3D94FF"/>
                </a:solidFill>
                <a:latin typeface="Segoe U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68756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6181D"/>
                </a:solidFill>
                <a:latin typeface="Segoe UI"/>
              </a:rPr>
              <a:t>Testing, Demo &amp; Future 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989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7783"/>
                </a:solidFill>
                <a:latin typeface="Segoe UI"/>
              </a:rPr>
              <a:t>How it was verified, demo flow, next steps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02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1 ·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6766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6181D"/>
                </a:solidFill>
                <a:latin typeface="Segoe UI"/>
              </a:rPr>
              <a:t>KeyForge is a production-style online store for mechanical keyboards, gaming mice, and earphones — built end-to-end, from product browsing to admin analytics.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4600"/>
            <a:ext cx="6766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7BFF"/>
                </a:solidFill>
                <a:latin typeface="Segoe UI"/>
              </a:rPr>
              <a:t>Key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6766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3D94FF"/>
                </a:solidFill>
                <a:latin typeface="Segoe UI"/>
              </a:rPr>
              <a:t>▸ </a:t>
            </a:r>
            <a:r>
              <a:rPr sz="1350" b="1">
                <a:solidFill>
                  <a:srgbClr val="16181D"/>
                </a:solidFill>
                <a:latin typeface="Segoe UI"/>
              </a:rPr>
              <a:t>Complete shopping journey: </a:t>
            </a:r>
            <a:r>
              <a:rPr sz="1350">
                <a:solidFill>
                  <a:srgbClr val="16181D"/>
                </a:solidFill>
                <a:latin typeface="Segoe UI"/>
              </a:rPr>
              <a:t>browse → search → cart → checkout → track orders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3D94FF"/>
                </a:solidFill>
                <a:latin typeface="Segoe UI"/>
              </a:rPr>
              <a:t>▸ </a:t>
            </a:r>
            <a:r>
              <a:rPr sz="1350" b="1">
                <a:solidFill>
                  <a:srgbClr val="16181D"/>
                </a:solidFill>
                <a:latin typeface="Segoe UI"/>
              </a:rPr>
              <a:t>Real accounts &amp; security: </a:t>
            </a:r>
            <a:r>
              <a:rPr sz="1350">
                <a:solidFill>
                  <a:srgbClr val="16181D"/>
                </a:solidFill>
                <a:latin typeface="Segoe UI"/>
              </a:rPr>
              <a:t>registration, login, JWT sessions, admin roles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3D94FF"/>
                </a:solidFill>
                <a:latin typeface="Segoe UI"/>
              </a:rPr>
              <a:t>▸ </a:t>
            </a:r>
            <a:r>
              <a:rPr sz="1350" b="1">
                <a:solidFill>
                  <a:srgbClr val="16181D"/>
                </a:solidFill>
                <a:latin typeface="Segoe UI"/>
              </a:rPr>
              <a:t>Business-grade stock control: </a:t>
            </a:r>
            <a:r>
              <a:rPr sz="1350">
                <a:solidFill>
                  <a:srgbClr val="16181D"/>
                </a:solidFill>
                <a:latin typeface="Segoe UI"/>
              </a:rPr>
              <a:t>inventory enforced atomically at checkout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3D94FF"/>
                </a:solidFill>
                <a:latin typeface="Segoe UI"/>
              </a:rPr>
              <a:t>▸ </a:t>
            </a:r>
            <a:r>
              <a:rPr sz="1350" b="1">
                <a:solidFill>
                  <a:srgbClr val="16181D"/>
                </a:solidFill>
                <a:latin typeface="Segoe UI"/>
              </a:rPr>
              <a:t>Full admin operations: </a:t>
            </a:r>
            <a:r>
              <a:rPr sz="1350">
                <a:solidFill>
                  <a:srgbClr val="16181D"/>
                </a:solidFill>
                <a:latin typeface="Segoe UI"/>
              </a:rPr>
              <a:t>product CRUD, stock edits, order workflow, analytics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350" b="1">
                <a:solidFill>
                  <a:srgbClr val="3D94FF"/>
                </a:solidFill>
                <a:latin typeface="Segoe UI"/>
              </a:rPr>
              <a:t>▸ </a:t>
            </a:r>
            <a:r>
              <a:rPr sz="1350" b="1">
                <a:solidFill>
                  <a:srgbClr val="16181D"/>
                </a:solidFill>
                <a:latin typeface="Segoe UI"/>
              </a:rPr>
              <a:t>Production deployment: </a:t>
            </a:r>
            <a:r>
              <a:rPr sz="1350">
                <a:solidFill>
                  <a:srgbClr val="16181D"/>
                </a:solidFill>
                <a:latin typeface="Segoe UI"/>
              </a:rPr>
              <a:t>live on Vercel with MongoDB Atlas, auto-deploy on push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35240" y="1691640"/>
            <a:ext cx="3913632" cy="117043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D94FF"/>
                </a:solidFill>
                <a:latin typeface="Segoe UI"/>
              </a:rPr>
              <a:t>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2860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Products seeded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54203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keyboards, mice, earphones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1691640"/>
            <a:ext cx="3913632" cy="117043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63840" y="18288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D94FF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2860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Categories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54203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with live search &amp; filters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1691640"/>
            <a:ext cx="3913632" cy="117043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18288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D94FF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2860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Order stages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54203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pending → confirmed → shipped → delivered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1691640"/>
            <a:ext cx="3913632" cy="117043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0" y="1828800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D94FF"/>
                </a:solidFill>
                <a:latin typeface="Segoe U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286000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Charts &amp; stats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54203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custom-built SVG analytics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635240" y="2999232"/>
            <a:ext cx="3913632" cy="117043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3136392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D94FF"/>
                </a:solidFill>
                <a:latin typeface="Segoe U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593592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Theme modes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3849624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light &amp; dark, remembers choice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4306824"/>
            <a:ext cx="3913632" cy="117043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63840" y="4443984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3D94FF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901184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Owner / admin account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5157216"/>
            <a:ext cx="3474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boss@keyforge.com · promoted via script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5614416"/>
            <a:ext cx="3913632" cy="77724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863840" y="5742432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E2229"/>
                </a:solidFill>
                <a:latin typeface="Segoe UI"/>
              </a:rPr>
              <a:t>Deployed live at </a:t>
            </a:r>
            <a:r>
              <a:rPr sz="1150" b="1" i="0">
                <a:solidFill>
                  <a:srgbClr val="007BFF"/>
                </a:solidFill>
                <a:latin typeface="Segoe UI"/>
              </a:rPr>
              <a:t>key-forge-final-project.vercel.app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03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1 ·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Problem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6181D"/>
                </a:solidFill>
                <a:latin typeface="Segoe UI"/>
              </a:rPr>
              <a:t>A shopping site is a small operating system: products, money, identity, and inventory must all stay consistent in real time. Most course projects stop at mock data — KeyForge goes the full distance to a working, deployed product.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1760"/>
            <a:ext cx="5349240" cy="35661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5349240" cy="50292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Fake checkouts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661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orders that never reduce stock or create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No real accounts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everyone sees everything, no roles or 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3484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Manual operations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no way to manage products, stock, or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Static catalog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products hard-coded in the frontend, unchangeable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321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No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607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works on one laptop only, impossible to share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651760"/>
            <a:ext cx="5349240" cy="35661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2651760"/>
            <a:ext cx="5349240" cy="502920"/>
          </a:xfrm>
          <a:prstGeom prst="rect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734056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How KeyForge Solves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3375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Real checkout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56616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orders persisted, stock decremented atomically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88620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JWT accounts &amp; roles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11480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customers vs. admin, protected APIs &amp;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43484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Admin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66344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full product CRUD, stock, order workflow,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98348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Database-driven catalog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21208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25 products served from MongoDB, editable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5321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Production 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57607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live on Vercel, MongoDB Atlas, CI via git push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04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3502152" cy="42976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3502152" cy="566928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React 19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61488"/>
            <a:ext cx="2128481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 dirty="0">
                <a:solidFill>
                  <a:srgbClr val="6E7783"/>
                </a:solidFill>
                <a:latin typeface="Segoe UI"/>
              </a:rPr>
              <a:t>fast builds, HMR, component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1927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React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7 pages, dynamic product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2394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Context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70832"/>
            <a:ext cx="2000471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 dirty="0">
                <a:solidFill>
                  <a:srgbClr val="6E7783"/>
                </a:solidFill>
                <a:latin typeface="Segoe UI"/>
              </a:rPr>
              <a:t>auth, cart &amp; theme state — no extra libraries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28616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Custom 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175504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design-system variables, responsive grid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737360"/>
            <a:ext cx="3502152" cy="42976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97680" y="1737360"/>
            <a:ext cx="3502152" cy="566928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26280" y="182880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51460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Python 3.12 + FastAPI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async, typed, auto-documented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1927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 dirty="0">
                <a:solidFill>
                  <a:srgbClr val="16181D"/>
                </a:solidFill>
                <a:latin typeface="Segoe UI"/>
              </a:rPr>
              <a:t>Motor (async driver)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56616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non-blocking MongoDB access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2394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PyJWT + bcrypt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370832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signed sessions, hashed passwords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928616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Pydantic schemas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175504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validated request/response models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1737360"/>
            <a:ext cx="3502152" cy="42976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0" y="1737360"/>
            <a:ext cx="3502152" cy="566928"/>
          </a:xfrm>
          <a:prstGeom prst="rect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83880" y="1828800"/>
            <a:ext cx="3017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Data &amp; 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2514600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MongoDB Atlas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80" y="2761488"/>
            <a:ext cx="1677875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 dirty="0">
                <a:solidFill>
                  <a:srgbClr val="6E7783"/>
                </a:solidFill>
                <a:latin typeface="Segoe UI"/>
              </a:rPr>
              <a:t>cloud database, free tier, auto-indexed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80" y="3319272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GitHub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80" y="3566160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private repo, versioned history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412394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Vercel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4370832"/>
            <a:ext cx="1845023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 dirty="0">
                <a:solidFill>
                  <a:srgbClr val="6E7783"/>
                </a:solidFill>
                <a:latin typeface="Segoe UI"/>
              </a:rPr>
              <a:t>static site + Python serverless functions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928616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GitHub ↔ Vercel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5175504"/>
            <a:ext cx="3063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 dirty="0">
                <a:solidFill>
                  <a:srgbClr val="6E7783"/>
                </a:solidFill>
                <a:latin typeface="Segoe UI"/>
              </a:rPr>
              <a:t>auto-deploy on every push to main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7783"/>
                </a:solidFill>
                <a:latin typeface="Segoe UI"/>
              </a:rPr>
              <a:t>No heavy UI libraries — charts, theming, and layout are hand-built for full control and learning value.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05 / 20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D8C17CDD-9B58-CBE9-66F6-34683D2CE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0432" y="2379012"/>
            <a:ext cx="1217524" cy="760952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B6638609-D794-D18D-A1FC-C9208AE33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517" y="2633007"/>
            <a:ext cx="488437" cy="45220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DEAC0F05-813D-BF1E-6EC2-0B8B4980F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1261" y="3329596"/>
            <a:ext cx="925402" cy="413647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7E8B66A5-3107-7D4F-1193-E0DB99E8A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9079" y="2404872"/>
            <a:ext cx="750184" cy="75018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896A286-B105-7D89-612E-9868BFA22B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5302" y="4211366"/>
            <a:ext cx="1130484" cy="46024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2F804BF-2315-F9D1-9E83-9964E24B57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5770" y="4828659"/>
            <a:ext cx="997610" cy="748553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089D34D8-FAFF-D910-D298-0275CE92A2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1954" y="2590124"/>
            <a:ext cx="522049" cy="52204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2778FB4-4F06-6504-8170-E93CEA71E8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85055" y="3383280"/>
            <a:ext cx="1006981" cy="50292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C0991A48-DA2B-D684-416A-9D7CF7D2DB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13140" y="4005072"/>
            <a:ext cx="1078992" cy="1078992"/>
          </a:xfrm>
          <a:prstGeom prst="rect">
            <a:avLst/>
          </a:prstGeom>
        </p:spPr>
      </p:pic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E4237396-61A1-2D58-F076-BA68CBDD46BC}"/>
              </a:ext>
            </a:extLst>
          </p:cNvPr>
          <p:cNvCxnSpPr>
            <a:cxnSpLocks/>
            <a:stCxn id="65" idx="3"/>
            <a:endCxn id="67" idx="3"/>
          </p:cNvCxnSpPr>
          <p:nvPr/>
        </p:nvCxnSpPr>
        <p:spPr>
          <a:xfrm flipH="1">
            <a:off x="10792132" y="3634740"/>
            <a:ext cx="299904" cy="909828"/>
          </a:xfrm>
          <a:prstGeom prst="bentConnector3">
            <a:avLst>
              <a:gd name="adj1" fmla="val -7622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EDF8167D-4599-1F3A-9D9A-E735400EA13E}"/>
              </a:ext>
            </a:extLst>
          </p:cNvPr>
          <p:cNvCxnSpPr>
            <a:cxnSpLocks/>
          </p:cNvCxnSpPr>
          <p:nvPr/>
        </p:nvCxnSpPr>
        <p:spPr>
          <a:xfrm flipH="1">
            <a:off x="10469194" y="4618348"/>
            <a:ext cx="351298" cy="715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2377440" cy="13716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2377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User / Browser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29000" y="2331720"/>
            <a:ext cx="822960" cy="548640"/>
          </a:xfrm>
          <a:prstGeom prst="rightArrow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2432304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HTTPS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7132320" cy="3108960"/>
          </a:xfrm>
          <a:prstGeom prst="rect">
            <a:avLst/>
          </a:prstGeom>
          <a:solidFill>
            <a:srgbClr val="F5F5F5"/>
          </a:solidFill>
          <a:ln w="19050">
            <a:solidFill>
              <a:srgbClr val="3D9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1645920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7BFF"/>
                </a:solidFill>
                <a:latin typeface="Segoe UI"/>
              </a:rPr>
              <a:t>Vercel — one deployment, two runtimes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011680"/>
            <a:ext cx="320040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4880" y="2121408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React SPA (static)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32304"/>
            <a:ext cx="29260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Pages · cart · orders ·</a:t>
            </a:r>
          </a:p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admin dashboard · theme</a:t>
            </a:r>
          </a:p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served as static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011680"/>
            <a:ext cx="32918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2121408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FastAPI (Python functions)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432304"/>
            <a:ext cx="3017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REST API under /api — auth,</a:t>
            </a:r>
          </a:p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products, orders, admin</a:t>
            </a:r>
          </a:p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runs as serverless functions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657600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7783"/>
                </a:solidFill>
                <a:latin typeface="Segoe UI"/>
              </a:rPr>
              <a:t>SPA calls the same domain — no CORS issues in production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092440" y="4069080"/>
            <a:ext cx="822960" cy="548640"/>
          </a:xfrm>
          <a:prstGeom prst="rightArrow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4617720" y="4069080"/>
            <a:ext cx="822960" cy="548640"/>
          </a:xfrm>
          <a:prstGeom prst="rightArrow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17720" y="4754880"/>
            <a:ext cx="6949440" cy="10515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4956048"/>
            <a:ext cx="6583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MongoDB Atlas (cloud)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530352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9AA3AD"/>
                </a:solidFill>
                <a:latin typeface="Segoe UI"/>
              </a:rPr>
              <a:t>users · products · orders  —  async driver, indexed lookups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6181D"/>
                </a:solidFill>
                <a:latin typeface="Segoe UI"/>
              </a:rPr>
              <a:t>Key flows:  </a:t>
            </a:r>
            <a:r>
              <a:rPr sz="1150" b="0" i="0">
                <a:solidFill>
                  <a:srgbClr val="6E7783"/>
                </a:solidFill>
                <a:latin typeface="Segoe UI"/>
              </a:rPr>
              <a:t>JWT issued at login and verified per request · cart lives in browser state · orders &amp; stock updates are atomic database operations.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06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Database Design — MongoDB Atlas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2763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6E7783"/>
                </a:solidFill>
                <a:latin typeface="Segoe UI"/>
              </a:rPr>
              <a:t>Three collections, one database. Order items are embedded (no join needed); stock lives on the product so it can be decremented atomically.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56616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BFF"/>
                </a:solidFill>
                <a:latin typeface="Segoe UI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name, email (unique)</a:t>
            </a:r>
          </a:p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password — bcrypt hash</a:t>
            </a:r>
          </a:p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is_admin flag</a:t>
            </a:r>
          </a:p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created_at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057400"/>
            <a:ext cx="356616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17720" y="2194560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BFF"/>
                </a:solidFill>
                <a:latin typeface="Segoe UI"/>
              </a:rPr>
              <a:t>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42032"/>
            <a:ext cx="31089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id, name, price</a:t>
            </a:r>
          </a:p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category, description, image</a:t>
            </a:r>
          </a:p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stock — source of truth</a:t>
            </a:r>
          </a:p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25 seeded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057400"/>
            <a:ext cx="3383280" cy="19202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21945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007BFF"/>
                </a:solidFill>
                <a:latin typeface="Segoe UI"/>
              </a:rPr>
              <a:t>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42032"/>
            <a:ext cx="29260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user email + items embedded</a:t>
            </a:r>
          </a:p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total, status, timestamps</a:t>
            </a:r>
          </a:p>
          <a:p>
            <a:pPr algn="l"/>
            <a:r>
              <a:rPr sz="1100" b="0" i="0">
                <a:solidFill>
                  <a:srgbClr val="16181D"/>
                </a:solidFill>
                <a:latin typeface="Segoe UI"/>
              </a:rPr>
              <a:t>tracking: 4 status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16181D"/>
                </a:solidFill>
                <a:latin typeface="Segoe UI"/>
              </a:rPr>
              <a:t>Entity-relationship overview (from the project's design phase):</a:t>
            </a:r>
          </a:p>
        </p:txBody>
      </p:sp>
      <p:pic>
        <p:nvPicPr>
          <p:cNvPr id="18" name="Picture 17" descr="keyforge_28_07_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26280"/>
            <a:ext cx="3464105" cy="19202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07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REST API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45920"/>
          <a:ext cx="10881359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44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Method</a:t>
                      </a:r>
                    </a:p>
                  </a:txBody>
                  <a:tcPr marL="101600" marT="50800"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 marL="101600" marT="50800"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Purpose</a:t>
                      </a:r>
                    </a:p>
                  </a:txBody>
                  <a:tcPr marL="101600" marT="50800">
                    <a:solidFill>
                      <a:srgbClr val="16181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/api/products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List products · optional ?search &amp; ?category filters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/api/products/{id}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Single product detail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/api/products/categories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Distinct category list for filters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/api/auth/register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Create account (email unique, password hashed)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/api/auth/login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Verify credentials, return JWT token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/api/auth/me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Resolve current user from token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/api/orders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Place order · atomic stock decrement · rejects short stock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/api/orders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List my orders (newest first)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POST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/api/orders/{id}/cancel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Client cancellation · restores stock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/api/admin/products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Admin product list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POST / PUT / DELETE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/api/admin/products/{id}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Admin product CRUD &amp; stock updates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044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GET / PUT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/api/admin/orders/{id}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Admin order list &amp; status workflow</a:t>
                      </a:r>
                    </a:p>
                  </a:txBody>
                  <a:tcPr marL="101600" marT="25400"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045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07BFF"/>
                          </a:solidFill>
                          <a:latin typeface="Segoe UI"/>
                        </a:rPr>
                        <a:t>GET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6181D"/>
                          </a:solidFill>
                          <a:latin typeface="Consolas"/>
                        </a:rPr>
                        <a:t>/api/admin/stats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181D"/>
                          </a:solidFill>
                          <a:latin typeface="Segoe UI"/>
                        </a:rPr>
                        <a:t>Dashboard analytics (revenue, statuses, categories, top)</a:t>
                      </a:r>
                    </a:p>
                  </a:txBody>
                  <a:tcPr marL="101600" marT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7783"/>
                </a:solidFill>
                <a:latin typeface="Segoe UI"/>
              </a:rPr>
              <a:t>All errors return a consistent shape — </a:t>
            </a:r>
            <a:r>
              <a:rPr sz="1150" b="0" i="0">
                <a:solidFill>
                  <a:srgbClr val="E05849"/>
                </a:solidFill>
                <a:latin typeface="Consolas"/>
              </a:rPr>
              <a:t>{"error": "&lt;message&gt;"}</a:t>
            </a:r>
            <a:r>
              <a:rPr sz="1150" b="0" i="0">
                <a:solidFill>
                  <a:srgbClr val="6E7783"/>
                </a:solidFill>
                <a:latin typeface="Segoe UI"/>
              </a:rPr>
              <a:t> — handled by one global exception handler.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08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Feature — Product Catalog &amp; Discovery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94960" cy="393192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7BFF"/>
                </a:solidFill>
                <a:latin typeface="Segoe UI"/>
              </a:rPr>
              <a:t>What the customer sees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Live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69464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matches product name &amp; description on the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44952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Category filters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82696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Keybord · Mouse · Earsphone — one click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5818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Stock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9592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cards show live stock; out-of-stock items can't be added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7141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Product details 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70916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full description, price, and add-to-cart with stock caps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37360"/>
            <a:ext cx="5285232" cy="393192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9202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7BFF"/>
                </a:solidFill>
                <a:latin typeface="Segoe UI"/>
              </a:rPr>
              <a:t>How it's implemented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3172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Server-side filtering: </a:t>
            </a:r>
            <a:r>
              <a:rPr sz="1150">
                <a:solidFill>
                  <a:srgbClr val="16181D"/>
                </a:solidFill>
                <a:latin typeface="Segoe UI"/>
              </a:rPr>
              <a:t>FastAPI builds a MongoDB query from query params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Cache in memory: </a:t>
            </a:r>
            <a:r>
              <a:rPr sz="1150">
                <a:solidFill>
                  <a:srgbClr val="16181D"/>
                </a:solidFill>
                <a:latin typeface="Segoe UI"/>
              </a:rPr>
              <a:t>first fetch fills a module-level cache per session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Reusable components: </a:t>
            </a:r>
            <a:r>
              <a:rPr sz="1150">
                <a:solidFill>
                  <a:srgbClr val="16181D"/>
                </a:solidFill>
                <a:latin typeface="Segoe UI"/>
              </a:rPr>
              <a:t>ProductCard, SearchBar, CategoryFilter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Clean state: </a:t>
            </a:r>
            <a:r>
              <a:rPr sz="1150">
                <a:solidFill>
                  <a:srgbClr val="16181D"/>
                </a:solidFill>
                <a:latin typeface="Segoe UI"/>
              </a:rPr>
              <a:t>one products[] state driven by search / category effects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6181D"/>
                </a:solidFill>
                <a:latin typeface="Segoe UI"/>
              </a:rPr>
              <a:t>Design detail: </a:t>
            </a:r>
            <a:r>
              <a:rPr sz="1150" b="0" i="0">
                <a:solidFill>
                  <a:srgbClr val="6E7783"/>
                </a:solidFill>
                <a:latin typeface="Segoe UI"/>
              </a:rPr>
              <a:t>the API returns JSON with stock included, so every card always shows the current inventory — no stale numbers after an order.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09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Feature — Authentication &amp; Authorization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2487168" cy="13716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487168" cy="109728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04672" y="2011680"/>
            <a:ext cx="21579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Register /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487168"/>
            <a:ext cx="21579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7783"/>
                </a:solidFill>
                <a:latin typeface="Segoe UI"/>
              </a:rPr>
              <a:t>POST /api/auth/register | /login</a:t>
            </a:r>
          </a:p>
        </p:txBody>
      </p:sp>
      <p:sp>
        <p:nvSpPr>
          <p:cNvPr id="11" name="Chevron 10"/>
          <p:cNvSpPr/>
          <p:nvPr/>
        </p:nvSpPr>
        <p:spPr>
          <a:xfrm>
            <a:off x="3127248" y="2240280"/>
            <a:ext cx="347472" cy="457200"/>
          </a:xfrm>
          <a:prstGeom prst="chevron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783080"/>
            <a:ext cx="2487168" cy="13716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783080"/>
            <a:ext cx="2487168" cy="109728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39312" y="2011680"/>
            <a:ext cx="21579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JWT issued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2" y="2487168"/>
            <a:ext cx="21579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7783"/>
                </a:solidFill>
                <a:latin typeface="Segoe UI"/>
              </a:rPr>
              <a:t>signed token with email + role claims</a:t>
            </a:r>
          </a:p>
        </p:txBody>
      </p:sp>
      <p:sp>
        <p:nvSpPr>
          <p:cNvPr id="16" name="Chevron 15"/>
          <p:cNvSpPr/>
          <p:nvPr/>
        </p:nvSpPr>
        <p:spPr>
          <a:xfrm>
            <a:off x="5961888" y="2240280"/>
            <a:ext cx="347472" cy="457200"/>
          </a:xfrm>
          <a:prstGeom prst="chevron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2487168" cy="13716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783080"/>
            <a:ext cx="2487168" cy="109728"/>
          </a:xfrm>
          <a:prstGeom prst="rect">
            <a:avLst/>
          </a:prstGeom>
          <a:solidFill>
            <a:srgbClr val="DBA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011680"/>
            <a:ext cx="21579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Client stores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487168"/>
            <a:ext cx="21579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7783"/>
                </a:solidFill>
                <a:latin typeface="Segoe UI"/>
              </a:rPr>
              <a:t>token kept in memory + localStorage</a:t>
            </a:r>
          </a:p>
        </p:txBody>
      </p:sp>
      <p:sp>
        <p:nvSpPr>
          <p:cNvPr id="21" name="Chevron 20"/>
          <p:cNvSpPr/>
          <p:nvPr/>
        </p:nvSpPr>
        <p:spPr>
          <a:xfrm>
            <a:off x="8796528" y="2240280"/>
            <a:ext cx="347472" cy="457200"/>
          </a:xfrm>
          <a:prstGeom prst="chevron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783080"/>
            <a:ext cx="2487168" cy="13716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1783080"/>
            <a:ext cx="2487168" cy="109728"/>
          </a:xfrm>
          <a:prstGeom prst="rect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08592" y="2011680"/>
            <a:ext cx="215798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Protected APIs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487168"/>
            <a:ext cx="21579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7783"/>
                </a:solidFill>
                <a:latin typeface="Segoe UI"/>
              </a:rPr>
              <a:t>verify bearer token on every request</a:t>
            </a:r>
          </a:p>
        </p:txBody>
      </p:sp>
      <p:sp>
        <p:nvSpPr>
          <p:cNvPr id="26" name="Chevron 25"/>
          <p:cNvSpPr/>
          <p:nvPr/>
        </p:nvSpPr>
        <p:spPr>
          <a:xfrm>
            <a:off x="11631168" y="2240280"/>
            <a:ext cx="347472" cy="457200"/>
          </a:xfrm>
          <a:prstGeom prst="chevron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52044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D94FF"/>
                </a:solidFill>
                <a:latin typeface="Segoe UI"/>
              </a:rPr>
              <a:t>▸ </a:t>
            </a:r>
            <a:r>
              <a:rPr sz="1200" b="1">
                <a:solidFill>
                  <a:srgbClr val="16181D"/>
                </a:solidFill>
                <a:latin typeface="Segoe UI"/>
              </a:rPr>
              <a:t>Passwords never stored in plain text</a:t>
            </a:r>
            <a:r>
              <a:rPr sz="1200">
                <a:solidFill>
                  <a:srgbClr val="16181D"/>
                </a:solidFill>
                <a:latin typeface="Segoe UI"/>
              </a:rPr>
              <a:t>bcrypt hashing with per-user salt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D94FF"/>
                </a:solidFill>
                <a:latin typeface="Segoe UI"/>
              </a:rPr>
              <a:t>▸ </a:t>
            </a:r>
            <a:r>
              <a:rPr sz="1200" b="1">
                <a:solidFill>
                  <a:srgbClr val="16181D"/>
                </a:solidFill>
                <a:latin typeface="Segoe UI"/>
              </a:rPr>
              <a:t>Stateless sessions</a:t>
            </a:r>
            <a:r>
              <a:rPr sz="1200">
                <a:solidFill>
                  <a:srgbClr val="16181D"/>
                </a:solidFill>
                <a:latin typeface="Segoe UI"/>
              </a:rPr>
              <a:t>PyJWT signs the token; no server session storage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D94FF"/>
                </a:solidFill>
                <a:latin typeface="Segoe UI"/>
              </a:rPr>
              <a:t>▸ </a:t>
            </a:r>
            <a:r>
              <a:rPr sz="1200" b="1">
                <a:solidFill>
                  <a:srgbClr val="16181D"/>
                </a:solidFill>
                <a:latin typeface="Segoe UI"/>
              </a:rPr>
              <a:t>Admin flag in token</a:t>
            </a:r>
            <a:r>
              <a:rPr sz="1200">
                <a:solidFill>
                  <a:srgbClr val="16181D"/>
                </a:solidFill>
                <a:latin typeface="Segoe UI"/>
              </a:rPr>
              <a:t>the API trusts role claims, the UI hides admin links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D94FF"/>
                </a:solidFill>
                <a:latin typeface="Segoe UI"/>
              </a:rPr>
              <a:t>▸ </a:t>
            </a:r>
            <a:r>
              <a:rPr sz="1200" b="1">
                <a:solidFill>
                  <a:srgbClr val="16181D"/>
                </a:solidFill>
                <a:latin typeface="Segoe UI"/>
              </a:rPr>
              <a:t>Edge cases handled</a:t>
            </a:r>
            <a:r>
              <a:rPr sz="1200">
                <a:solidFill>
                  <a:srgbClr val="16181D"/>
                </a:solidFill>
                <a:latin typeface="Segoe UI"/>
              </a:rPr>
              <a:t>duplicate email → 400, wrong password → 401, expired token → re-login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80" y="3520440"/>
            <a:ext cx="5193792" cy="237744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370332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Role model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4114800"/>
            <a:ext cx="2240280" cy="1417320"/>
          </a:xfrm>
          <a:prstGeom prst="rect">
            <a:avLst/>
          </a:prstGeom>
          <a:solidFill>
            <a:srgbClr val="2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4224528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Customer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452628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AA3AD"/>
                </a:solidFill>
                <a:latin typeface="Segoe UI"/>
              </a:rPr>
              <a:t>browse · cart · order</a:t>
            </a:r>
          </a:p>
          <a:p>
            <a:pPr algn="l"/>
            <a:r>
              <a:rPr sz="1000" b="0" i="0">
                <a:solidFill>
                  <a:srgbClr val="9AA3AD"/>
                </a:solidFill>
                <a:latin typeface="Segoe UI"/>
              </a:rPr>
              <a:t>track &amp; cancel own orders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52560" y="4114800"/>
            <a:ext cx="2240280" cy="1417320"/>
          </a:xfrm>
          <a:prstGeom prst="rect">
            <a:avLst/>
          </a:prstGeom>
          <a:solidFill>
            <a:srgbClr val="2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89720" y="4224528"/>
            <a:ext cx="1965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4526280"/>
            <a:ext cx="1965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AA3AD"/>
                </a:solidFill>
                <a:latin typeface="Segoe UI"/>
              </a:rPr>
              <a:t>everything a customer can</a:t>
            </a:r>
          </a:p>
          <a:p>
            <a:pPr algn="l"/>
            <a:r>
              <a:rPr sz="1000" b="0" i="0">
                <a:solidFill>
                  <a:srgbClr val="9AA3AD"/>
                </a:solidFill>
                <a:latin typeface="Segoe UI"/>
              </a:rPr>
              <a:t>+ dashboard, CRUD,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806440"/>
            <a:ext cx="519379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9AA3AD"/>
                </a:solidFill>
                <a:latin typeface="Segoe UI"/>
              </a:rPr>
              <a:t>Demo account: boss@keyforge.com (admin)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Feature — Cart &amp; Checkout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94960" cy="29260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7BFF"/>
                </a:solidFill>
                <a:latin typeface="Segoe UI"/>
              </a:rPr>
              <a:t>Customer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Global cart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69464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Context provider so every page shares one cart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008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Quantity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27832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add, remove, and adjust — capped at available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4845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Live totals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88620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subtotal recalculated from cart items automatically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Confirmation screen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44568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order number, summary, and items after success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37360"/>
            <a:ext cx="5285232" cy="29260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9202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ECF78"/>
                </a:solidFill>
                <a:latin typeface="Segoe UI"/>
              </a:rPr>
              <a:t>Stock safety — the interesting part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31720"/>
            <a:ext cx="475488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16181D"/>
                </a:solidFill>
                <a:latin typeface="Segoe UI"/>
              </a:rPr>
              <a:t>1.  Checkout reads stock from the database (not the browser)</a:t>
            </a:r>
          </a:p>
          <a:p>
            <a:pPr algn="l"/>
            <a:r>
              <a:rPr sz="1150" b="0" i="0">
                <a:solidFill>
                  <a:srgbClr val="16181D"/>
                </a:solidFill>
                <a:latin typeface="Segoe UI"/>
              </a:rPr>
              <a:t>2.  Order placed in one atomic update: </a:t>
            </a:r>
            <a:r>
              <a:rPr sz="1100" b="0" i="0">
                <a:solidFill>
                  <a:srgbClr val="3ECF78"/>
                </a:solidFill>
                <a:latin typeface="Consolas"/>
              </a:rPr>
              <a:t>{"$inc": {"stock": -qty}}</a:t>
            </a:r>
          </a:p>
          <a:p>
            <a:pPr algn="l"/>
            <a:r>
              <a:rPr sz="1150" b="0" i="0">
                <a:solidFill>
                  <a:srgbClr val="16181D"/>
                </a:solidFill>
                <a:latin typeface="Segoe UI"/>
              </a:rPr>
              <a:t>3.  If any item is short, the whole order is rejected — </a:t>
            </a:r>
            <a:r>
              <a:rPr sz="1150" b="1" i="0">
                <a:solidFill>
                  <a:srgbClr val="16181D"/>
                </a:solidFill>
                <a:latin typeface="Segoe UI"/>
              </a:rPr>
              <a:t>no partial decrements</a:t>
            </a:r>
          </a:p>
          <a:p>
            <a:pPr algn="l"/>
            <a:r>
              <a:rPr sz="1150" b="0" i="0">
                <a:solidFill>
                  <a:srgbClr val="16181D"/>
                </a:solidFill>
                <a:latin typeface="Segoe UI"/>
              </a:rPr>
              <a:t>4.  Client cart is cleared only on success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892040"/>
            <a:ext cx="10908792" cy="132588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007BFF"/>
                </a:solidFill>
                <a:latin typeface="Segoe UI"/>
              </a:rPr>
              <a:t>Why this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16181D"/>
                </a:solidFill>
                <a:latin typeface="Segoe UI"/>
              </a:rPr>
              <a:t>Two customers hitting the last unit at the same moment: MongoDB's atomic update means exactly one succeeds. The loser gets a clear "insufficient stock" error with the item name — no negative inventory, no double sales.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Feature — Order Tracking &amp; Cancellation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2487168" cy="12344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2487168" cy="109728"/>
          </a:xfrm>
          <a:prstGeom prst="rect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6181D"/>
                </a:solidFill>
                <a:latin typeface="Segoe UI"/>
              </a:rPr>
              <a:t>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4871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7783"/>
                </a:solidFill>
                <a:latin typeface="Segoe UI"/>
              </a:rPr>
              <a:t>set automatically</a:t>
            </a:r>
          </a:p>
        </p:txBody>
      </p:sp>
      <p:sp>
        <p:nvSpPr>
          <p:cNvPr id="11" name="Chevron 10"/>
          <p:cNvSpPr/>
          <p:nvPr/>
        </p:nvSpPr>
        <p:spPr>
          <a:xfrm>
            <a:off x="3127248" y="2148840"/>
            <a:ext cx="347472" cy="457200"/>
          </a:xfrm>
          <a:prstGeom prst="chevron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783080"/>
            <a:ext cx="2487168" cy="12344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74720" y="1783080"/>
            <a:ext cx="2487168" cy="109728"/>
          </a:xfrm>
          <a:prstGeom prst="rect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20116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6181D"/>
                </a:solidFill>
                <a:latin typeface="Segoe UI"/>
              </a:rPr>
              <a:t>confirmed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871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7783"/>
                </a:solidFill>
                <a:latin typeface="Segoe UI"/>
              </a:rPr>
              <a:t>set by admin</a:t>
            </a:r>
          </a:p>
        </p:txBody>
      </p:sp>
      <p:sp>
        <p:nvSpPr>
          <p:cNvPr id="16" name="Chevron 15"/>
          <p:cNvSpPr/>
          <p:nvPr/>
        </p:nvSpPr>
        <p:spPr>
          <a:xfrm>
            <a:off x="5961888" y="2148840"/>
            <a:ext cx="347472" cy="457200"/>
          </a:xfrm>
          <a:prstGeom prst="chevron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60" y="1783080"/>
            <a:ext cx="2487168" cy="12344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783080"/>
            <a:ext cx="2487168" cy="109728"/>
          </a:xfrm>
          <a:prstGeom prst="rect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20116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6181D"/>
                </a:solidFill>
                <a:latin typeface="Segoe UI"/>
              </a:rPr>
              <a:t>shipped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4871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7783"/>
                </a:solidFill>
                <a:latin typeface="Segoe UI"/>
              </a:rPr>
              <a:t>set by admin</a:t>
            </a:r>
          </a:p>
        </p:txBody>
      </p:sp>
      <p:sp>
        <p:nvSpPr>
          <p:cNvPr id="21" name="Chevron 20"/>
          <p:cNvSpPr/>
          <p:nvPr/>
        </p:nvSpPr>
        <p:spPr>
          <a:xfrm>
            <a:off x="8796528" y="2148840"/>
            <a:ext cx="347472" cy="457200"/>
          </a:xfrm>
          <a:prstGeom prst="chevron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783080"/>
            <a:ext cx="2487168" cy="123444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144000" y="1783080"/>
            <a:ext cx="2487168" cy="109728"/>
          </a:xfrm>
          <a:prstGeom prst="rect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26880" y="2011680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16181D"/>
                </a:solidFill>
                <a:latin typeface="Segoe UI"/>
              </a:rPr>
              <a:t>delivered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487168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6E7783"/>
                </a:solidFill>
                <a:latin typeface="Segoe UI"/>
              </a:rPr>
              <a:t>set by 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383280"/>
            <a:ext cx="5577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 b="1">
                <a:solidFill>
                  <a:srgbClr val="3D94FF"/>
                </a:solidFill>
                <a:latin typeface="Segoe UI"/>
              </a:rPr>
              <a:t>▸ </a:t>
            </a:r>
            <a:r>
              <a:rPr sz="1200" b="1">
                <a:solidFill>
                  <a:srgbClr val="16181D"/>
                </a:solidFill>
                <a:latin typeface="Segoe UI"/>
              </a:rPr>
              <a:t>My Orders page</a:t>
            </a:r>
            <a:r>
              <a:rPr sz="1200">
                <a:solidFill>
                  <a:srgbClr val="16181D"/>
                </a:solidFill>
                <a:latin typeface="Segoe UI"/>
              </a:rPr>
              <a:t>every placed order with a live progress tracker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 b="1">
                <a:solidFill>
                  <a:srgbClr val="3D94FF"/>
                </a:solidFill>
                <a:latin typeface="Segoe UI"/>
              </a:rPr>
              <a:t>▸ </a:t>
            </a:r>
            <a:r>
              <a:rPr sz="1200" b="1">
                <a:solidFill>
                  <a:srgbClr val="16181D"/>
                </a:solidFill>
                <a:latin typeface="Segoe UI"/>
              </a:rPr>
              <a:t>Full history</a:t>
            </a:r>
            <a:r>
              <a:rPr sz="1200">
                <a:solidFill>
                  <a:srgbClr val="16181D"/>
                </a:solidFill>
                <a:latin typeface="Segoe UI"/>
              </a:rPr>
              <a:t>date, status badge, items, totals — newest first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 b="1">
                <a:solidFill>
                  <a:srgbClr val="3D94FF"/>
                </a:solidFill>
                <a:latin typeface="Segoe UI"/>
              </a:rPr>
              <a:t>▸ </a:t>
            </a:r>
            <a:r>
              <a:rPr sz="1200" b="1">
                <a:solidFill>
                  <a:srgbClr val="16181D"/>
                </a:solidFill>
                <a:latin typeface="Segoe UI"/>
              </a:rPr>
              <a:t>Client cancellation</a:t>
            </a:r>
            <a:r>
              <a:rPr sz="1200">
                <a:solidFill>
                  <a:srgbClr val="16181D"/>
                </a:solidFill>
                <a:latin typeface="Segoe UI"/>
              </a:rPr>
              <a:t>allowed while pending or confirmed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200" b="1">
                <a:solidFill>
                  <a:srgbClr val="3D94FF"/>
                </a:solidFill>
                <a:latin typeface="Segoe UI"/>
              </a:rPr>
              <a:t>▸ </a:t>
            </a:r>
            <a:r>
              <a:rPr sz="1200" b="1">
                <a:solidFill>
                  <a:srgbClr val="16181D"/>
                </a:solidFill>
                <a:latin typeface="Segoe UI"/>
              </a:rPr>
              <a:t>Stock integrity</a:t>
            </a:r>
            <a:r>
              <a:rPr sz="1200">
                <a:solidFill>
                  <a:srgbClr val="16181D"/>
                </a:solidFill>
                <a:latin typeface="Segoe UI"/>
              </a:rPr>
              <a:t>cancelling restores inventory atomically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3383280"/>
            <a:ext cx="5193792" cy="246888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356616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Cancellation flow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3977639"/>
            <a:ext cx="46634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AA3AD"/>
                </a:solidFill>
                <a:latin typeface="Segoe UI"/>
              </a:rPr>
              <a:t>1.  Customer requests cancel (pending / confirmed only)</a:t>
            </a:r>
          </a:p>
          <a:p>
            <a:pPr algn="l"/>
            <a:r>
              <a:rPr sz="1150" b="0" i="0">
                <a:solidFill>
                  <a:srgbClr val="9AA3AD"/>
                </a:solidFill>
                <a:latin typeface="Segoe UI"/>
              </a:rPr>
              <a:t>2.  API removes the order</a:t>
            </a:r>
          </a:p>
          <a:p>
            <a:pPr algn="l"/>
            <a:r>
              <a:rPr sz="1150" b="0" i="0">
                <a:solidFill>
                  <a:srgbClr val="9AA3AD"/>
                </a:solidFill>
                <a:latin typeface="Segoe UI"/>
              </a:rPr>
              <a:t>3.  Stock is added back in the same transaction</a:t>
            </a:r>
          </a:p>
          <a:p>
            <a:pPr algn="l"/>
            <a:r>
              <a:rPr sz="1150" b="0" i="0">
                <a:solidFill>
                  <a:srgbClr val="9AA3AD"/>
                </a:solidFill>
                <a:latin typeface="Segoe UI"/>
              </a:rPr>
              <a:t>4.  UI shows a success message immediately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6181D"/>
                </a:solidFill>
                <a:latin typeface="Segoe UI"/>
              </a:rPr>
              <a:t>Design note: </a:t>
            </a:r>
            <a:r>
              <a:rPr sz="1150" b="0" i="0">
                <a:solidFill>
                  <a:srgbClr val="6E7783"/>
                </a:solidFill>
                <a:latin typeface="Segoe UI"/>
              </a:rPr>
              <a:t>the four stages are exactly the values the admin workflow writes — one source of truth for the whole order lifecycle.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12 / 20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FAFEA10-36CF-7C9E-6C72-4B07944044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543" y="1763990"/>
            <a:ext cx="1253530" cy="125353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78B495B-D14C-D396-0510-9073F364A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907" y="1939726"/>
            <a:ext cx="756926" cy="75692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E4692F2-1748-FD9C-E5DB-1F3ABEB2C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8025" y="1787893"/>
            <a:ext cx="1075623" cy="104798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B9CE3C05-E678-6287-6B68-AB8225762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5465" y="1795112"/>
            <a:ext cx="1057311" cy="10573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Feature — Admin Dashboard &amp; 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394960" cy="3977639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874519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7BFF"/>
                </a:solidFill>
                <a:latin typeface="Segoe UI"/>
              </a:rPr>
              <a:t>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KPI stat cards</a:t>
            </a:r>
            <a:r>
              <a:rPr sz="1150">
                <a:solidFill>
                  <a:srgbClr val="16181D"/>
                </a:solidFill>
                <a:latin typeface="Segoe UI"/>
              </a:rPr>
              <a:t>revenue, order count, stock-outs, low stock — from one /stats call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Product management</a:t>
            </a:r>
            <a:r>
              <a:rPr sz="1150">
                <a:solidFill>
                  <a:srgbClr val="16181D"/>
                </a:solidFill>
                <a:latin typeface="Segoe UI"/>
              </a:rPr>
              <a:t>create, edit, delete, and update stock in place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Order workflow</a:t>
            </a:r>
            <a:r>
              <a:rPr sz="1150">
                <a:solidFill>
                  <a:srgbClr val="16181D"/>
                </a:solidFill>
                <a:latin typeface="Segoe UI"/>
              </a:rPr>
              <a:t>move any order pending → confirmed → shipped → delivered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Search &amp; filter</a:t>
            </a:r>
            <a:r>
              <a:rPr sz="1150">
                <a:solidFill>
                  <a:srgbClr val="16181D"/>
                </a:solidFill>
                <a:latin typeface="Segoe UI"/>
              </a:rPr>
              <a:t>find products and orders instantly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Role-gated</a:t>
            </a:r>
            <a:r>
              <a:rPr sz="1150">
                <a:solidFill>
                  <a:srgbClr val="16181D"/>
                </a:solidFill>
                <a:latin typeface="Segoe UI"/>
              </a:rPr>
              <a:t>route + API both reject non-admins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285232" cy="3977639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1874519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7BFF"/>
                </a:solidFill>
                <a:latin typeface="Segoe UI"/>
              </a:rPr>
              <a:t>Analytics — hand-built SVG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2860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Revenue last 14 days</a:t>
            </a:r>
            <a:r>
              <a:rPr sz="1150">
                <a:solidFill>
                  <a:srgbClr val="16181D"/>
                </a:solidFill>
                <a:latin typeface="Segoe UI"/>
              </a:rPr>
              <a:t>bar chart with value labels &amp; gridlines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Orders by status</a:t>
            </a:r>
            <a:r>
              <a:rPr sz="1150">
                <a:solidFill>
                  <a:srgbClr val="16181D"/>
                </a:solidFill>
                <a:latin typeface="Segoe UI"/>
              </a:rPr>
              <a:t>color-coded bars mirroring the workflow colors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Products by category</a:t>
            </a:r>
            <a:r>
              <a:rPr sz="1150">
                <a:solidFill>
                  <a:srgbClr val="16181D"/>
                </a:solidFill>
                <a:latin typeface="Segoe UI"/>
              </a:rPr>
              <a:t>donut with legend, counts and percentages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Top products</a:t>
            </a:r>
            <a:r>
              <a:rPr sz="1150">
                <a:solidFill>
                  <a:srgbClr val="16181D"/>
                </a:solidFill>
                <a:latin typeface="Segoe UI"/>
              </a:rPr>
              <a:t>horizontal bars by quantity sold + revenue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No chart library</a:t>
            </a:r>
            <a:r>
              <a:rPr sz="1150">
                <a:solidFill>
                  <a:srgbClr val="16181D"/>
                </a:solidFill>
                <a:latin typeface="Segoe UI"/>
              </a:rPr>
              <a:t>pure SVG components — precise control, zero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6181D"/>
                </a:solidFill>
                <a:latin typeface="Segoe UI"/>
              </a:rPr>
              <a:t>API:  </a:t>
            </a:r>
            <a:r>
              <a:rPr sz="1150" b="0" i="0">
                <a:solidFill>
                  <a:srgbClr val="6E7783"/>
                </a:solidFill>
                <a:latin typeface="Segoe UI"/>
              </a:rPr>
              <a:t>GET /api/admin/stats aggregates orders and products server-side in one round trip.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2 ·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UX &amp; Visual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94960" cy="301752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7BFF"/>
                </a:solidFill>
                <a:latin typeface="Segoe UI"/>
              </a:rPr>
              <a:t>Theming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Light &amp; dark themes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69464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one toggle in the navbar, saved in localStorage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90088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Follows the OS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27832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prefers-color-scheme on first 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48456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No flash on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886200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inline script sets the theme before React mounts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▸ Design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44568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7783"/>
                </a:solidFill>
                <a:latin typeface="Segoe UI"/>
              </a:rPr>
              <a:t>196 colors → 38 semantic CSS variables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1737360"/>
            <a:ext cx="5285232" cy="301752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19202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7BFF"/>
                </a:solidFill>
                <a:latin typeface="Segoe UI"/>
              </a:rPr>
              <a:t>Craft details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331720"/>
            <a:ext cx="4754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Responsive layout</a:t>
            </a:r>
            <a:r>
              <a:rPr sz="1150">
                <a:solidFill>
                  <a:srgbClr val="16181D"/>
                </a:solidFill>
                <a:latin typeface="Segoe UI"/>
              </a:rPr>
              <a:t>desktop grid, mobile hamburger menu, fluid type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Accessibility</a:t>
            </a:r>
            <a:r>
              <a:rPr sz="1150">
                <a:solidFill>
                  <a:srgbClr val="16181D"/>
                </a:solidFill>
                <a:latin typeface="Segoe UI"/>
              </a:rPr>
              <a:t>aria labels, keyboard focus rings, semantic buttons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State coverage</a:t>
            </a:r>
            <a:r>
              <a:rPr sz="1150">
                <a:solidFill>
                  <a:srgbClr val="16181D"/>
                </a:solidFill>
                <a:latin typeface="Segoe UI"/>
              </a:rPr>
              <a:t>loading, empty, error, out-of-stock, success — all styled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150" b="1">
                <a:solidFill>
                  <a:srgbClr val="3D94FF"/>
                </a:solidFill>
                <a:latin typeface="Segoe UI"/>
              </a:rPr>
              <a:t>▸ </a:t>
            </a:r>
            <a:r>
              <a:rPr sz="1150" b="1">
                <a:solidFill>
                  <a:srgbClr val="16181D"/>
                </a:solidFill>
                <a:latin typeface="Segoe UI"/>
              </a:rPr>
              <a:t>Consistent feedback</a:t>
            </a:r>
            <a:r>
              <a:rPr sz="1150">
                <a:solidFill>
                  <a:srgbClr val="16181D"/>
                </a:solidFill>
                <a:latin typeface="Segoe UI"/>
              </a:rPr>
              <a:t>one error shape across every API failure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983480"/>
            <a:ext cx="10908792" cy="118872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16636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Segoe UI"/>
              </a:rPr>
              <a:t>The full palette is token-driven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321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9AA3AD"/>
                </a:solidFill>
                <a:latin typeface="Segoe UI"/>
              </a:rPr>
              <a:t>Themes swap only the token values (</a:t>
            </a:r>
            <a:r>
              <a:rPr sz="1100" b="0" i="0">
                <a:solidFill>
                  <a:srgbClr val="3D94FF"/>
                </a:solidFill>
                <a:latin typeface="Consolas"/>
              </a:rPr>
              <a:t>--bg, --surface, --text…</a:t>
            </a:r>
            <a:r>
              <a:rPr sz="1150" b="0" i="0">
                <a:solidFill>
                  <a:srgbClr val="9AA3AD"/>
                </a:solidFill>
                <a:latin typeface="Segoe UI"/>
              </a:rPr>
              <a:t>) — components never change, and dark-mode contrast stays ≥ 4.5:1 for body text.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3 ·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Deployment &amp; DevOps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16181D"/>
                </a:solidFill>
                <a:latin typeface="Segoe UI"/>
              </a:rPr>
              <a:t>The whole stack runs on one Vercel project: the React build is served as static files, and the same vercel.json routes /api/* to a Python 3.12 serverless function. MongoDB runs on Atlas — zero servers to manage.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97480"/>
            <a:ext cx="3502152" cy="26517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697480"/>
            <a:ext cx="3502152" cy="50292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77977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Source control — GitHub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832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private repo, main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947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clear commit 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identity configured for the owner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697480"/>
            <a:ext cx="3502152" cy="26517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2697480"/>
            <a:ext cx="3502152" cy="502920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277977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Hosting — Vercel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33832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static build (Vite → dist)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7947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Python functions via vercel.json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42062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env vars: MONGODB_URI, JWT_SECRET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61772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auto-deploy on every git push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0" y="2697480"/>
            <a:ext cx="3502152" cy="26517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55280" y="2697480"/>
            <a:ext cx="3502152" cy="502920"/>
          </a:xfrm>
          <a:prstGeom prst="rect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83880" y="277977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Database — MongoDB Atlas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338328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free cloud cluster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79476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network access for the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4206240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seeded once via script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532120"/>
            <a:ext cx="10908792" cy="77724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Deploy pipeline:  </a:t>
            </a:r>
            <a:r>
              <a:rPr sz="1200" b="0" i="0">
                <a:solidFill>
                  <a:srgbClr val="1E2229"/>
                </a:solidFill>
                <a:latin typeface="Segoe UI"/>
              </a:rPr>
              <a:t>git commit → push to GitHub main → Vercel builds the site + bundles the API → production alias updates in ~1 minute.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3 ·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Challenges &amp; How </a:t>
            </a:r>
            <a:r>
              <a:rPr lang="en-US" sz="2800" b="1">
                <a:solidFill>
                  <a:srgbClr val="16181D"/>
                </a:solidFill>
                <a:latin typeface="Segoe UI"/>
              </a:rPr>
              <a:t>We</a:t>
            </a:r>
            <a:r>
              <a:rPr sz="2800" b="1" i="0">
                <a:solidFill>
                  <a:srgbClr val="16181D"/>
                </a:solidFill>
                <a:latin typeface="Segoe UI"/>
              </a:rPr>
              <a:t> Were 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28016" cy="1207008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0992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6181D"/>
                </a:solidFill>
                <a:latin typeface="Segoe UI"/>
              </a:rPr>
              <a:t>Products disappeared under category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7568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5849"/>
                </a:solidFill>
                <a:latin typeface="Segoe UI"/>
              </a:rPr>
              <a:t>Problem:  </a:t>
            </a:r>
            <a:r>
              <a:rPr sz="1100" b="0" i="0">
                <a:solidFill>
                  <a:srgbClr val="6E7783"/>
                </a:solidFill>
                <a:latin typeface="Segoe UI"/>
              </a:rPr>
              <a:t>Three seeded products had no category field, so their category was empty and the filter matched nothing.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9631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ECF78"/>
                </a:solidFill>
                <a:latin typeface="Segoe UI"/>
              </a:rPr>
              <a:t>Fix:  </a:t>
            </a:r>
            <a:r>
              <a:rPr sz="1100" b="0" i="0">
                <a:solidFill>
                  <a:srgbClr val="6E7783"/>
                </a:solidFill>
                <a:latin typeface="Segoe UI"/>
              </a:rPr>
              <a:t>Added the missing categories in the seed data and re-seeded the database.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128016" cy="1207008"/>
          </a:xfrm>
          <a:prstGeom prst="rect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08152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6181D"/>
                </a:solidFill>
                <a:latin typeface="Segoe UI"/>
              </a:rPr>
              <a:t>Product images broken in 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44728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5849"/>
                </a:solidFill>
                <a:latin typeface="Segoe UI"/>
              </a:rPr>
              <a:t>Problem:  </a:t>
            </a:r>
            <a:r>
              <a:rPr sz="1100" b="0" i="0">
                <a:solidFill>
                  <a:srgbClr val="6E7783"/>
                </a:solidFill>
                <a:latin typeface="Segoe UI"/>
              </a:rPr>
              <a:t>22 of 25 images pointed at /src/assets paths that only exist on the dev machine, not on Vercel.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86791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ECF78"/>
                </a:solidFill>
                <a:latin typeface="Segoe UI"/>
              </a:rPr>
              <a:t>Fix:  </a:t>
            </a:r>
            <a:r>
              <a:rPr sz="1100" b="0" i="0">
                <a:solidFill>
                  <a:srgbClr val="6E7783"/>
                </a:solidFill>
                <a:latin typeface="Segoe UI"/>
              </a:rPr>
              <a:t>Mounted the assets directory in FastAPI and routed /src/assets/* to the backend in vercel.json.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434840"/>
            <a:ext cx="128016" cy="1207008"/>
          </a:xfrm>
          <a:prstGeom prst="rect">
            <a:avLst/>
          </a:prstGeom>
          <a:solidFill>
            <a:srgbClr val="DBA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453128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16181D"/>
                </a:solidFill>
                <a:latin typeface="Segoe UI"/>
              </a:rPr>
              <a:t>Vercel blocked every new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1888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E05849"/>
                </a:solidFill>
                <a:latin typeface="Segoe UI"/>
              </a:rPr>
              <a:t>Problem:  </a:t>
            </a:r>
            <a:r>
              <a:rPr sz="1100" b="0" i="0">
                <a:solidFill>
                  <a:srgbClr val="6E7783"/>
                </a:solidFill>
                <a:latin typeface="Segoe UI"/>
              </a:rPr>
              <a:t>Hobby plan rejects deployments whose git commit author isn't the account owner; CLI deploys used a placeholder identity.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3951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ECF78"/>
                </a:solidFill>
                <a:latin typeface="Segoe UI"/>
              </a:rPr>
              <a:t>Fix:  </a:t>
            </a:r>
            <a:r>
              <a:rPr sz="1100" b="0" i="0">
                <a:solidFill>
                  <a:srgbClr val="6E7783"/>
                </a:solidFill>
                <a:latin typeface="Segoe UI"/>
              </a:rPr>
              <a:t>Rewrote the commits under the owner's real identity and connected the GitHub repo for auto-deploys.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16181D"/>
                </a:solidFill>
                <a:latin typeface="Segoe UI"/>
              </a:rPr>
              <a:t>Lesson: </a:t>
            </a:r>
            <a:r>
              <a:rPr sz="1200" b="0" i="0">
                <a:solidFill>
                  <a:srgbClr val="6E7783"/>
                </a:solidFill>
                <a:latin typeface="Segoe UI"/>
              </a:rPr>
              <a:t>data hygiene, environment parity, and identity configuration are the three silent killers of a demo 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3 ·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Testing &amp;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49240" cy="40233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5349240" cy="502920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1965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Build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npm run build passes cleanly (Vite production build)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eslint runs with only pre-existing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Vercel build + Python bundle succeed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737360"/>
            <a:ext cx="5349240" cy="40233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9632" y="1737360"/>
            <a:ext cx="5349240" cy="502920"/>
          </a:xfrm>
          <a:prstGeom prst="rect">
            <a:avLst/>
          </a:prstGeom>
          <a:solidFill>
            <a:srgbClr val="3EC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81965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API smoke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4231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/api/health, /api/products, /api/auth/login verified on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9260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25 products, 0 missing categories after re-seed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4290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image endpoints return correct MIME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37360"/>
            <a:ext cx="5349240" cy="40233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2" y="1737360"/>
            <a:ext cx="5349240" cy="502920"/>
          </a:xfrm>
          <a:prstGeom prst="rect">
            <a:avLst/>
          </a:prstGeom>
          <a:solidFill>
            <a:srgbClr val="00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181965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Manual QA flows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24231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register → login → browse → add to cart → checkout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9260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stock decreases; insufficient-stock rejection shows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4290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cancel order → stock restored → tracker disappears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2" y="1737360"/>
            <a:ext cx="5349240" cy="40233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9632" y="1737360"/>
            <a:ext cx="5349240" cy="502920"/>
          </a:xfrm>
          <a:prstGeom prst="rect">
            <a:avLst/>
          </a:prstGeom>
          <a:solidFill>
            <a:srgbClr val="DBA6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28232" y="181965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Segoe UI"/>
              </a:rPr>
              <a:t>Edge cases covered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73952" y="24231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duplicate signup email → friendly 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29260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out-of-stock products can't be added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34290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admin pages blocked for non-admins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73952" y="39319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16181D"/>
                </a:solidFill>
                <a:latin typeface="Segoe UI"/>
              </a:rPr>
              <a:t>▸ dark/light theme persists across reloads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7783"/>
                </a:solidFill>
                <a:latin typeface="Segoe UI"/>
              </a:rPr>
              <a:t>All checks are repeatable: the same commands (build, lint, API calls) are documented in the repo and were re-run after every fix.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3 ·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Running the Project Locally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49240" cy="402336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Segoe UI"/>
              </a:rPr>
              <a:t>Three commands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423160"/>
            <a:ext cx="4754880" cy="685800"/>
          </a:xfrm>
          <a:prstGeom prst="rect">
            <a:avLst/>
          </a:prstGeom>
          <a:solidFill>
            <a:srgbClr val="2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249631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94FF"/>
                </a:solidFill>
                <a:latin typeface="Consolas"/>
              </a:rPr>
              <a:t>npm install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9AA3AD"/>
                </a:solidFill>
                <a:latin typeface="Segoe UI"/>
              </a:rPr>
              <a:t>install frontend dependencies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291840"/>
            <a:ext cx="4754880" cy="685800"/>
          </a:xfrm>
          <a:prstGeom prst="rect">
            <a:avLst/>
          </a:prstGeom>
          <a:solidFill>
            <a:srgbClr val="2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36499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94FF"/>
                </a:solidFill>
                <a:latin typeface="Consolas"/>
              </a:rPr>
              <a:t>npm run seed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9AA3AD"/>
                </a:solidFill>
                <a:latin typeface="Segoe UI"/>
              </a:rPr>
              <a:t>load 25 products into MongoDB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160520"/>
            <a:ext cx="4754880" cy="685800"/>
          </a:xfrm>
          <a:prstGeom prst="rect">
            <a:avLst/>
          </a:prstGeom>
          <a:solidFill>
            <a:srgbClr val="2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233672"/>
            <a:ext cx="4480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3D94FF"/>
                </a:solidFill>
                <a:latin typeface="Consolas"/>
              </a:rPr>
              <a:t>npm run dev:all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4480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 i="0">
                <a:solidFill>
                  <a:srgbClr val="9AA3AD"/>
                </a:solidFill>
                <a:latin typeface="Segoe UI"/>
              </a:rPr>
              <a:t>Vite (port 5173) + FastAPI (port 5000) together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2064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9AA3AD"/>
                </a:solidFill>
                <a:latin typeface="Segoe UI"/>
              </a:rPr>
              <a:t>A .env file holds MONGODB_URI and JWT_SECRET (never committed).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737360"/>
            <a:ext cx="5285232" cy="402336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37960" y="19202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007BFF"/>
                </a:solidFill>
                <a:latin typeface="Segoe UI"/>
              </a:rPr>
              <a:t>Project structure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7744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7BFF"/>
                </a:solidFill>
                <a:latin typeface="Consolas"/>
              </a:rPr>
              <a:t>src/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2404872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783"/>
                </a:solidFill>
                <a:latin typeface="Segoe UI"/>
              </a:rPr>
              <a:t>React pages, components, contexts, data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035808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7BFF"/>
                </a:solidFill>
                <a:latin typeface="Consolas"/>
              </a:rPr>
              <a:t>server/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3063240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783"/>
                </a:solidFill>
                <a:latin typeface="Segoe UI"/>
              </a:rPr>
              <a:t>FastAPI app: routers, schemas, security, seeding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694176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7BFF"/>
                </a:solidFill>
                <a:latin typeface="Consolas"/>
              </a:rPr>
              <a:t>api/index.py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721608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783"/>
                </a:solidFill>
                <a:latin typeface="Segoe UI"/>
              </a:rPr>
              <a:t>Vercel entry point — re-exports the FastAPI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352544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7BFF"/>
                </a:solidFill>
                <a:latin typeface="Consolas"/>
              </a:rPr>
              <a:t>vercel.json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379976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783"/>
                </a:solidFill>
                <a:latin typeface="Segoe UI"/>
              </a:rPr>
              <a:t>builds &amp; routes: static + Python on one domain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01091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007BFF"/>
                </a:solidFill>
                <a:latin typeface="Consolas"/>
              </a:rPr>
              <a:t>requirements.txt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5038344"/>
            <a:ext cx="2834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6E7783"/>
                </a:solidFill>
                <a:latin typeface="Segoe UI"/>
              </a:rPr>
              <a:t>backend dependencies (both local &amp; Vercel)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3D94FF"/>
                </a:solidFill>
                <a:latin typeface="Segoe UI"/>
              </a:rPr>
              <a:t>PART 3 ·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6181D"/>
                </a:solidFill>
                <a:latin typeface="Segoe UI"/>
              </a:rPr>
              <a:t>Future Improvements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868680" cy="50292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502152" cy="17830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9728" cy="1783080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1965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181D"/>
                </a:solidFill>
                <a:latin typeface="Segoe UI"/>
              </a:rPr>
              <a:t>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2316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Integrate Stripe or PayPal for real checkout instead of order placement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3502152" cy="17830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109728" cy="1783080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1965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181D"/>
                </a:solidFill>
                <a:latin typeface="Segoe UI"/>
              </a:rPr>
              <a:t>Wishlists &amp; reviews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42316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per-user favorites and product ratings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3502152" cy="17830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109728" cy="1783080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39328" y="196596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181D"/>
                </a:solidFill>
                <a:latin typeface="Segoe UI"/>
              </a:rPr>
              <a:t>Email notifications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242316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order confirmation and status change emails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749040"/>
            <a:ext cx="3502152" cy="17830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" y="3749040"/>
            <a:ext cx="109728" cy="1783080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9319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181D"/>
                </a:solidFill>
                <a:latin typeface="Segoe UI"/>
              </a:rPr>
              <a:t>Shipping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3891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address book, courier selection, live tracking numbers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749040"/>
            <a:ext cx="3502152" cy="17830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343400" y="3749040"/>
            <a:ext cx="109728" cy="1783080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8" y="39319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181D"/>
                </a:solidFill>
                <a:latin typeface="Segoe UI"/>
              </a:rPr>
              <a:t>Inventory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3891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low-stock notifications to the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0" y="3749040"/>
            <a:ext cx="3502152" cy="178308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046720" y="3749040"/>
            <a:ext cx="109728" cy="1783080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39328" y="39319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6181D"/>
                </a:solidFill>
                <a:latin typeface="Segoe UI"/>
              </a:rPr>
              <a:t>Performance &amp;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8" y="4389120"/>
            <a:ext cx="301752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0">
                <a:solidFill>
                  <a:srgbClr val="6E7783"/>
                </a:solidFill>
                <a:latin typeface="Segoe UI"/>
              </a:rPr>
              <a:t>server-side pagination, image CDN, response caching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E7783"/>
                </a:solidFill>
                <a:latin typeface="Segoe UI"/>
              </a:rPr>
              <a:t>The architecture is already shaped for these: every feature is a new route, a new context, or a new collection — no rewrites.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6510528"/>
            <a:ext cx="10908792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" y="658368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9AA3AD"/>
                </a:solidFill>
                <a:latin typeface="Segoe UI"/>
              </a:rPr>
              <a:t>KeyForge · Final Project · Web Development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583680"/>
            <a:ext cx="9418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solidFill>
                  <a:srgbClr val="9AA3AD"/>
                </a:solidFill>
                <a:latin typeface="Segoe UI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77240" y="2788920"/>
            <a:ext cx="1005840" cy="64008"/>
          </a:xfrm>
          <a:prstGeom prst="rect">
            <a:avLst/>
          </a:prstGeom>
          <a:solidFill>
            <a:srgbClr val="3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402336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9AA3AD"/>
                </a:solidFill>
                <a:latin typeface="Segoe UI"/>
              </a:rPr>
              <a:t>Questions &amp; feedback are welcome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120640"/>
            <a:ext cx="12191695" cy="12700"/>
          </a:xfrm>
          <a:prstGeom prst="rect">
            <a:avLst/>
          </a:prstGeom>
          <a:solidFill>
            <a:srgbClr val="2B3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5486400"/>
            <a:ext cx="10607040" cy="6924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Segoe UI"/>
              </a:rPr>
              <a:t>Live demo:  </a:t>
            </a:r>
            <a:r>
              <a:rPr sz="1300" b="0" i="0" dirty="0">
                <a:solidFill>
                  <a:srgbClr val="3D94FF"/>
                </a:solidFill>
                <a:latin typeface="Segoe UI"/>
                <a:hlinkClick r:id="rId2"/>
              </a:rPr>
              <a:t>https://key-forge-final-project.vercel.app</a:t>
            </a:r>
            <a:endParaRPr lang="en-US" sz="1300" b="0" i="0" dirty="0">
              <a:solidFill>
                <a:srgbClr val="3D94FF"/>
              </a:solidFill>
              <a:latin typeface="Segoe UI"/>
            </a:endParaRPr>
          </a:p>
          <a:p>
            <a:pPr algn="l"/>
            <a:endParaRPr sz="1300" b="0" i="0" dirty="0">
              <a:solidFill>
                <a:srgbClr val="3D94FF"/>
              </a:solidFill>
              <a:latin typeface="Segoe UI"/>
            </a:endParaRPr>
          </a:p>
          <a:p>
            <a:pPr algn="l"/>
            <a:r>
              <a:rPr sz="1300" b="1" i="0" dirty="0">
                <a:solidFill>
                  <a:srgbClr val="FFFFFF"/>
                </a:solidFill>
                <a:latin typeface="Segoe UI"/>
              </a:rPr>
              <a:t>Source:  </a:t>
            </a:r>
            <a:r>
              <a:rPr sz="1300" b="0" i="0" dirty="0">
                <a:solidFill>
                  <a:srgbClr val="3D94FF"/>
                </a:solidFill>
                <a:latin typeface="Segoe UI"/>
              </a:rPr>
              <a:t>https://github.com/kimhongpech-dev/KeyForge-Final-Project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2826</Words>
  <Application>Microsoft Office PowerPoint</Application>
  <PresentationFormat>Widescreen</PresentationFormat>
  <Paragraphs>441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Kimhong PECH</dc:creator>
  <cp:keywords/>
  <dc:description>generated using python-pptx</dc:description>
  <cp:lastModifiedBy>Kimhong PECH</cp:lastModifiedBy>
  <cp:revision>8</cp:revision>
  <dcterms:created xsi:type="dcterms:W3CDTF">2013-01-27T09:14:16Z</dcterms:created>
  <dcterms:modified xsi:type="dcterms:W3CDTF">2026-08-04T09:24:19Z</dcterms:modified>
  <cp:category/>
</cp:coreProperties>
</file>